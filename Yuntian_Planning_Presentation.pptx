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7" r:id="rId2"/>
    <p:sldId id="258" r:id="rId3"/>
    <p:sldId id="259" r:id="rId4"/>
    <p:sldId id="260" r:id="rId5"/>
    <p:sldId id="261" r:id="rId6"/>
    <p:sldId id="265" r:id="rId7"/>
    <p:sldId id="266" r:id="rId8"/>
    <p:sldId id="262" r:id="rId9"/>
    <p:sldId id="263" r:id="rId10"/>
    <p:sldId id="264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216" autoAdjust="0"/>
    <p:restoredTop sz="94660"/>
  </p:normalViewPr>
  <p:slideViewPr>
    <p:cSldViewPr snapToGrid="0" snapToObjects="1">
      <p:cViewPr varScale="1">
        <p:scale>
          <a:sx n="96" d="100"/>
          <a:sy n="96" d="100"/>
        </p:scale>
        <p:origin x="1251" y="57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4/14/2026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4/14/2026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4/14/2026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4/14/2026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5DF07E1-7C73-EEA1-BE7F-D6A6B5739AF9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Sentiment Analysis on Amazon Reviews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D03FDA2D-5939-C306-B941-6E331B9E8BEE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Yuntian Xiao</a:t>
            </a:r>
          </a:p>
        </p:txBody>
      </p:sp>
    </p:spTree>
    <p:extLst>
      <p:ext uri="{BB962C8B-B14F-4D97-AF65-F5344CB8AC3E}">
        <p14:creationId xmlns:p14="http://schemas.microsoft.com/office/powerpoint/2010/main" val="337698550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9F33F0F-5AEC-9514-C8B9-D8D15C28C4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200" dirty="0"/>
              <a:t>Use Cases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932B6906-7D3B-9BD2-B737-1B0DF5D94E5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400" dirty="0"/>
              <a:t>User launches the application; system loads the dataset, trains a Logistic Regression model on feature vectors, and displays each review's predicted label alongside its sentiment score and original rating.</a:t>
            </a:r>
          </a:p>
        </p:txBody>
      </p:sp>
    </p:spTree>
    <p:extLst>
      <p:ext uri="{BB962C8B-B14F-4D97-AF65-F5344CB8AC3E}">
        <p14:creationId xmlns:p14="http://schemas.microsoft.com/office/powerpoint/2010/main" val="29391723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B03FE8E-C74A-1B76-0D2C-91C46B346D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200" dirty="0"/>
              <a:t>Methodology 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370498FE-C2B3-A4CD-E145-A7420ECBAF4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400" dirty="0"/>
              <a:t>Phase 1: Establishing a baseline using the AFINN-111 sentiment lexicon and Spark broadcast variables for efficient dictionary lookups.</a:t>
            </a:r>
          </a:p>
          <a:p>
            <a:r>
              <a:rPr lang="en-US" sz="2400" dirty="0"/>
              <a:t>Phase 2: Transitioning to a supervised learning approach using Logistic Regression and Naive Bayes.</a:t>
            </a:r>
          </a:p>
        </p:txBody>
      </p:sp>
    </p:spTree>
    <p:extLst>
      <p:ext uri="{BB962C8B-B14F-4D97-AF65-F5344CB8AC3E}">
        <p14:creationId xmlns:p14="http://schemas.microsoft.com/office/powerpoint/2010/main" val="352426996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65E08AD-CB43-28C0-B3C3-FCBFBA2F81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200" dirty="0"/>
              <a:t>Data Sources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7D7EDE3E-3FAA-3DF0-E0E7-C872014852E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400" dirty="0"/>
              <a:t>Dataset: McAuley-Lab / Amazon-Reviews-2023, 750 GB</a:t>
            </a:r>
          </a:p>
          <a:p>
            <a:r>
              <a:rPr lang="en-US" sz="2400" dirty="0"/>
              <a:t>Format: JSONL</a:t>
            </a:r>
          </a:p>
          <a:p>
            <a:r>
              <a:rPr lang="en-US" sz="2400" dirty="0"/>
              <a:t>Fields: rating, text, title</a:t>
            </a:r>
          </a:p>
        </p:txBody>
      </p:sp>
    </p:spTree>
    <p:extLst>
      <p:ext uri="{BB962C8B-B14F-4D97-AF65-F5344CB8AC3E}">
        <p14:creationId xmlns:p14="http://schemas.microsoft.com/office/powerpoint/2010/main" val="379318264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EF1DF1C-A5F8-2133-B28E-6358FB0127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200" dirty="0"/>
              <a:t>Phase 1: Setup &amp; Baseline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B3F44768-4260-91D2-DF9D-85FAB936BAD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r>
              <a:rPr lang="en-US" sz="2400" dirty="0"/>
              <a:t>M1 (4/10 - 4/11 Environment &amp; Ingestion)</a:t>
            </a:r>
          </a:p>
          <a:p>
            <a:r>
              <a:rPr lang="en-US" sz="2400" dirty="0"/>
              <a:t>Set up the Spark environment and load the Amazon Reviews </a:t>
            </a:r>
            <a:r>
              <a:rPr lang="en-US" sz="2400" dirty="0" err="1"/>
              <a:t>All_Beauty.jsonl</a:t>
            </a:r>
            <a:r>
              <a:rPr lang="en-US" sz="2400" dirty="0"/>
              <a:t> subset, mapping records to Case Classes. Establish the data scale and sampling strategy.</a:t>
            </a:r>
          </a:p>
          <a:p>
            <a:endParaRPr lang="en-US" sz="2400" dirty="0"/>
          </a:p>
          <a:p>
            <a:r>
              <a:rPr lang="en-US" sz="2400" dirty="0"/>
              <a:t>M2 (4/12 Lexicon-Based Baseline)</a:t>
            </a:r>
          </a:p>
          <a:p>
            <a:r>
              <a:rPr lang="en-US" sz="2400" dirty="0"/>
              <a:t>Load a sentiment lexicon and build a rule-based sentiment scorer, delivering the first end-to-end runnable version. </a:t>
            </a:r>
          </a:p>
        </p:txBody>
      </p:sp>
    </p:spTree>
    <p:extLst>
      <p:ext uri="{BB962C8B-B14F-4D97-AF65-F5344CB8AC3E}">
        <p14:creationId xmlns:p14="http://schemas.microsoft.com/office/powerpoint/2010/main" val="242028113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9F7D09B-76AB-2003-2212-F71E332610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200" dirty="0"/>
              <a:t>Phase 2: Feature Evolution &amp; Model Depth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C537F354-88FC-C48E-5DF0-9B8DE43F95E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r>
              <a:rPr lang="en-US" sz="2400" dirty="0"/>
              <a:t>M3 (4/13 Feature Engineering Pipeline)</a:t>
            </a:r>
          </a:p>
          <a:p>
            <a:r>
              <a:rPr lang="en-US" sz="2400" dirty="0"/>
              <a:t>Refactor processing logic into a Spark </a:t>
            </a:r>
            <a:r>
              <a:rPr lang="en-US" sz="2400" dirty="0" err="1"/>
              <a:t>MLlib</a:t>
            </a:r>
            <a:r>
              <a:rPr lang="en-US" sz="2400" dirty="0"/>
              <a:t> Pipeline, integrating Tokenizer, </a:t>
            </a:r>
            <a:r>
              <a:rPr lang="en-US" sz="2400" dirty="0" err="1"/>
              <a:t>stopword</a:t>
            </a:r>
            <a:r>
              <a:rPr lang="en-US" sz="2400" dirty="0"/>
              <a:t> filtering, and TF-IDF feature transformation using a functional data flow style.</a:t>
            </a:r>
          </a:p>
          <a:p>
            <a:endParaRPr lang="en-US" sz="2400" dirty="0"/>
          </a:p>
          <a:p>
            <a:r>
              <a:rPr lang="en-US" sz="2400" dirty="0"/>
              <a:t>M4 (4/14 Supervised Learning Comparison)</a:t>
            </a:r>
          </a:p>
          <a:p>
            <a:r>
              <a:rPr lang="en-US" sz="2400" dirty="0"/>
              <a:t>Integrate multiple classifiers into the existing Pipeline under a unified experimental framework, quantifying performance gains over the lexicon baseline. Generate a model performance heatmap and accuracy comparison.</a:t>
            </a:r>
          </a:p>
        </p:txBody>
      </p:sp>
    </p:spTree>
    <p:extLst>
      <p:ext uri="{BB962C8B-B14F-4D97-AF65-F5344CB8AC3E}">
        <p14:creationId xmlns:p14="http://schemas.microsoft.com/office/powerpoint/2010/main" val="394317712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004D990-879F-5E77-7D00-105DB62A6A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200" dirty="0"/>
              <a:t>Phase 3: Optimization &amp; Delivery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20350AA-9504-8DB5-BB51-B5FD6836134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400" dirty="0"/>
              <a:t>M5 (4/15 Generalization Validation)</a:t>
            </a:r>
          </a:p>
          <a:p>
            <a:r>
              <a:rPr lang="en-US" sz="2400" dirty="0"/>
              <a:t>Extend the existing Pipeline to additional product category datasets, evaluating model stability across varying data distributions and quantifying cross-category performance differences.</a:t>
            </a:r>
          </a:p>
          <a:p>
            <a:endParaRPr lang="en-US" sz="2400" dirty="0"/>
          </a:p>
          <a:p>
            <a:r>
              <a:rPr lang="en-US" sz="2400" dirty="0"/>
              <a:t>M6 (4/16 Delivery &amp; Demo)</a:t>
            </a:r>
          </a:p>
          <a:p>
            <a:r>
              <a:rPr lang="en-US" sz="2400" dirty="0"/>
              <a:t>Wrap the prediction logic into an API to simulate a production inference workflow. Finalize the course demo and organize project metrics into visual dashboards to validate performance goals.</a:t>
            </a:r>
          </a:p>
        </p:txBody>
      </p:sp>
    </p:spTree>
    <p:extLst>
      <p:ext uri="{BB962C8B-B14F-4D97-AF65-F5344CB8AC3E}">
        <p14:creationId xmlns:p14="http://schemas.microsoft.com/office/powerpoint/2010/main" val="353468217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82A9139-A620-D89D-171E-A529E3537C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200" dirty="0"/>
              <a:t>Code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93B02BE9-25E2-CAC7-859B-88D51B0855F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altLang="zh-CN" sz="2400" dirty="0"/>
              <a:t>Tech Stack</a:t>
            </a:r>
            <a:r>
              <a:rPr lang="en-US" sz="2400" dirty="0"/>
              <a:t>: 100% of core logic, Python for final report visualization</a:t>
            </a:r>
          </a:p>
          <a:p>
            <a:r>
              <a:rPr lang="en-US" sz="2400" dirty="0"/>
              <a:t>GitHub: https://github.com/xiuqizhiping123/amazon-review-spark</a:t>
            </a:r>
          </a:p>
        </p:txBody>
      </p:sp>
    </p:spTree>
    <p:extLst>
      <p:ext uri="{BB962C8B-B14F-4D97-AF65-F5344CB8AC3E}">
        <p14:creationId xmlns:p14="http://schemas.microsoft.com/office/powerpoint/2010/main" val="239943936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FABC284-22F8-FF06-E89B-56A5128C91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200" dirty="0"/>
              <a:t>Acceptance </a:t>
            </a:r>
            <a:r>
              <a:rPr lang="en-US" altLang="zh-CN" sz="3200" dirty="0"/>
              <a:t>C</a:t>
            </a:r>
            <a:r>
              <a:rPr lang="en-US" sz="3200" dirty="0"/>
              <a:t>riteria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BFC40B71-537A-3B55-8A5F-348CE8790A3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400" dirty="0"/>
              <a:t>Achieves an AUC-ROC of at least 0.80 on </a:t>
            </a:r>
            <a:r>
              <a:rPr lang="en-US" sz="2400" dirty="0" err="1"/>
              <a:t>All_Beauty</a:t>
            </a:r>
            <a:r>
              <a:rPr lang="en-US" sz="2400" dirty="0"/>
              <a:t>.</a:t>
            </a:r>
          </a:p>
          <a:p>
            <a:r>
              <a:rPr lang="en-US" sz="2400" dirty="0"/>
              <a:t>When applied without retraining to at least one additional product category. The weighted F1-score drops by no more than 0.05.</a:t>
            </a:r>
          </a:p>
        </p:txBody>
      </p:sp>
    </p:spTree>
    <p:extLst>
      <p:ext uri="{BB962C8B-B14F-4D97-AF65-F5344CB8AC3E}">
        <p14:creationId xmlns:p14="http://schemas.microsoft.com/office/powerpoint/2010/main" val="274568207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BCD50A0-4E22-A4B0-791E-01CCB327EA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200" dirty="0"/>
              <a:t>Goals of the project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176BED25-0203-A57C-9C6A-84758364218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400" dirty="0"/>
              <a:t>Master the core techniques for processing unstructured text data with Spark, including environment setup, data cleaning, and schema mapping.</a:t>
            </a:r>
          </a:p>
          <a:p>
            <a:r>
              <a:rPr lang="en-US" sz="2400" dirty="0"/>
              <a:t>Learn how Spark </a:t>
            </a:r>
            <a:r>
              <a:rPr lang="en-US" sz="2400" dirty="0" err="1"/>
              <a:t>MLlib</a:t>
            </a:r>
            <a:r>
              <a:rPr lang="en-US" sz="2400" dirty="0"/>
              <a:t> Pipelines work by building one — from raw JSONL to trained classifier — using functional Scala throughout.</a:t>
            </a:r>
          </a:p>
          <a:p>
            <a:r>
              <a:rPr lang="en-US" sz="2400" dirty="0"/>
              <a:t>Build a sentiment pipeline that works on any Amazon product category.</a:t>
            </a:r>
          </a:p>
        </p:txBody>
      </p:sp>
    </p:spTree>
    <p:extLst>
      <p:ext uri="{BB962C8B-B14F-4D97-AF65-F5344CB8AC3E}">
        <p14:creationId xmlns:p14="http://schemas.microsoft.com/office/powerpoint/2010/main" val="413333844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390</TotalTime>
  <Words>442</Words>
  <Application>Microsoft Office PowerPoint</Application>
  <PresentationFormat>全屏显示(4:3)</PresentationFormat>
  <Paragraphs>39</Paragraphs>
  <Slides>10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2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Sentiment Analysis on Amazon Reviews</vt:lpstr>
      <vt:lpstr>Use Cases</vt:lpstr>
      <vt:lpstr>Methodology </vt:lpstr>
      <vt:lpstr>Data Sources</vt:lpstr>
      <vt:lpstr>Phase 1: Setup &amp; Baseline</vt:lpstr>
      <vt:lpstr>Phase 2: Feature Evolution &amp; Model Depth</vt:lpstr>
      <vt:lpstr>Phase 3: Optimization &amp; Delivery</vt:lpstr>
      <vt:lpstr>Code</vt:lpstr>
      <vt:lpstr>Acceptance Criteria</vt:lpstr>
      <vt:lpstr>Goals of the project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Yuntian Xiao</cp:lastModifiedBy>
  <cp:revision>47</cp:revision>
  <dcterms:created xsi:type="dcterms:W3CDTF">2013-01-27T09:14:16Z</dcterms:created>
  <dcterms:modified xsi:type="dcterms:W3CDTF">2026-04-15T02:10:08Z</dcterms:modified>
  <cp:category/>
</cp:coreProperties>
</file>