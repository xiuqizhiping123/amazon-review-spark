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22"/>
  </p:notesMasterIdLst>
  <p:sldIdLst>
    <p:sldId id="257" r:id="rId2"/>
    <p:sldId id="258" r:id="rId3"/>
    <p:sldId id="259" r:id="rId4"/>
    <p:sldId id="278" r:id="rId5"/>
    <p:sldId id="260" r:id="rId6"/>
    <p:sldId id="261" r:id="rId7"/>
    <p:sldId id="265" r:id="rId8"/>
    <p:sldId id="266" r:id="rId9"/>
    <p:sldId id="262" r:id="rId10"/>
    <p:sldId id="263" r:id="rId11"/>
    <p:sldId id="264" r:id="rId12"/>
    <p:sldId id="271" r:id="rId13"/>
    <p:sldId id="267" r:id="rId14"/>
    <p:sldId id="272" r:id="rId15"/>
    <p:sldId id="276" r:id="rId16"/>
    <p:sldId id="269" r:id="rId17"/>
    <p:sldId id="270" r:id="rId18"/>
    <p:sldId id="275" r:id="rId19"/>
    <p:sldId id="277" r:id="rId20"/>
    <p:sldId id="274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16" autoAdjust="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251" y="5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8C0037-56AC-48B3-BB21-AA6F6D1C98C8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B75D833-033E-4169-A9B6-47519D34E35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95882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5D833-033E-4169-A9B6-47519D34E35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2573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5D833-033E-4169-A9B6-47519D34E35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585918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B75D833-033E-4169-A9B6-47519D34E35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48366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22889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97101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9569940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00069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75859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3444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096130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30881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98210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全景图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1428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431130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8181452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025827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8310750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0620064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508242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00179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4/18/2026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53352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5DF07E1-7C73-EEA1-BE7F-D6A6B5739A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Sentiment Analysis on Amazon Reviews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D03FDA2D-5939-C306-B941-6E331B9E8B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Yuntian Xiao</a:t>
            </a:r>
          </a:p>
        </p:txBody>
      </p:sp>
    </p:spTree>
    <p:extLst>
      <p:ext uri="{BB962C8B-B14F-4D97-AF65-F5344CB8AC3E}">
        <p14:creationId xmlns:p14="http://schemas.microsoft.com/office/powerpoint/2010/main" val="337698550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9F33F0F-5AEC-9514-C8B9-D8D15C28C4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Use Cases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2B6906-7D3B-9BD2-B737-1B0DF5D94E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76866" y="2498049"/>
            <a:ext cx="6798736" cy="3444997"/>
          </a:xfrm>
        </p:spPr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Business: A product manager ingests the full review history of any Amazon category through the pipeline and receives a structured sentiment breakdown The resulting signals feed directly into product iteration decisions, marketing messaging adjustments, and supply chain risk alerts, turning unstructured customer voice into a continuous, automated intelligence layer across the entire product portfolio.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System: User launches the application; system loads the dataset, trains a Logistic Regression model on feature vectors, and displays each review's predicted label alongside its sentiment score and original rating.</a:t>
            </a:r>
          </a:p>
          <a:p>
            <a:pPr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939172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B03FE8E-C74A-1B76-0D2C-91C46B346D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Methodology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70498FE-C2B3-A4CD-E145-A7420ECBAF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Original:</a:t>
            </a:r>
            <a:endParaRPr lang="en-US" sz="2000" dirty="0"/>
          </a:p>
          <a:p>
            <a:pPr>
              <a:spcBef>
                <a:spcPts val="0"/>
              </a:spcBef>
            </a:pPr>
            <a:r>
              <a:rPr lang="en-US" sz="2000" dirty="0"/>
              <a:t>Phase 1: Establishing a baseline using the AFINN-111 sentiment lexicon and Spark broadcast variables for efficient dictionary lookups.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Phase 2: Transitioning to a supervised learning approach using Logistic Regression and Naive Bayes.</a:t>
            </a:r>
          </a:p>
        </p:txBody>
      </p:sp>
    </p:spTree>
    <p:extLst>
      <p:ext uri="{BB962C8B-B14F-4D97-AF65-F5344CB8AC3E}">
        <p14:creationId xmlns:p14="http://schemas.microsoft.com/office/powerpoint/2010/main" val="352426996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81A6717-C7AF-EC26-06F8-BA168B8305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Methodology 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8905A90-D030-D8FC-DA6A-2527803418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Update: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Both phases were completed as planned, with Phase 2 expanding beyond the original scope. Rather than simply replacing the lexicon approach, I retained it as a quantitative baseline within a unified framework comparing three feature configurations: lexicon-only, TF-IDF-only, and a hybrid combination. Additional engineering decisions made during implementation included feature standardization to address scale disparity in the hybrid setting, inverse-frequency class weighting to handle label imbalance, and cross-validated hyperparameter tuning for both classifiers.</a:t>
            </a:r>
          </a:p>
        </p:txBody>
      </p:sp>
    </p:spTree>
    <p:extLst>
      <p:ext uri="{BB962C8B-B14F-4D97-AF65-F5344CB8AC3E}">
        <p14:creationId xmlns:p14="http://schemas.microsoft.com/office/powerpoint/2010/main" val="76108392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5E08AD-CB43-28C0-B3C3-FCBFBA2F81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Sources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7EDE3E-3FAA-3DF0-E0E7-C872014852E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>
              <a:spcBef>
                <a:spcPts val="0"/>
              </a:spcBef>
            </a:pPr>
            <a:r>
              <a:rPr lang="en-US" altLang="zh-CN" dirty="0"/>
              <a:t>Original:</a:t>
            </a: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Dataset: McAuley-Lab / Amazon-Reviews-2023, 750 GB</a:t>
            </a:r>
          </a:p>
          <a:p>
            <a:pPr>
              <a:spcBef>
                <a:spcPts val="0"/>
              </a:spcBef>
            </a:pPr>
            <a:r>
              <a:rPr lang="en-US" dirty="0"/>
              <a:t>Format: JSONL</a:t>
            </a:r>
          </a:p>
          <a:p>
            <a:pPr>
              <a:spcBef>
                <a:spcPts val="0"/>
              </a:spcBef>
            </a:pPr>
            <a:r>
              <a:rPr lang="en-US" dirty="0"/>
              <a:t>Fields: rating, text, title</a:t>
            </a:r>
          </a:p>
          <a:p>
            <a:pPr>
              <a:spcBef>
                <a:spcPts val="0"/>
              </a:spcBef>
            </a:pPr>
            <a:endParaRPr lang="en-US" dirty="0"/>
          </a:p>
          <a:p>
            <a:pPr>
              <a:spcBef>
                <a:spcPts val="0"/>
              </a:spcBef>
            </a:pPr>
            <a:r>
              <a:rPr lang="en-US" dirty="0"/>
              <a:t>Update:</a:t>
            </a:r>
          </a:p>
          <a:p>
            <a:pPr>
              <a:spcBef>
                <a:spcPts val="0"/>
              </a:spcBef>
            </a:pPr>
            <a:r>
              <a:rPr lang="en-US" dirty="0"/>
              <a:t>The McAuley-Lab Amazon Reviews 2023 dataset was used as planned. Due to time and compute constraints, experiments were conducted on two category-level subsets (327 MB, 50.2 MB</a:t>
            </a:r>
            <a:r>
              <a:rPr lang="en-US" sz="2400" dirty="0"/>
              <a:t>) rather than the full 750 GB corpus.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1826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EF1DF1C-A5F8-2133-B28E-6358FB0127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1: Setup &amp; Baseline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3F44768-4260-91D2-DF9D-85FAB936BAD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sz="2000" dirty="0"/>
              <a:t>M1 (4/10 - 4/11 Environment &amp; Ingestion) ✅ Completed on schedule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Set up </a:t>
            </a:r>
            <a:r>
              <a:rPr lang="en-US" sz="2000" dirty="0" err="1"/>
              <a:t>the</a:t>
            </a:r>
            <a:r>
              <a:rPr lang="en-US" altLang="zh-CN" sz="2000" dirty="0" err="1"/>
              <a:t>z</a:t>
            </a:r>
            <a:r>
              <a:rPr lang="en-US" sz="2000" dirty="0"/>
              <a:t> Spark environment and load the Amazon Reviews </a:t>
            </a:r>
            <a:r>
              <a:rPr lang="en-US" sz="2000" dirty="0" err="1"/>
              <a:t>All_Beauty.jsonl</a:t>
            </a:r>
            <a:r>
              <a:rPr lang="en-US" sz="2000" dirty="0"/>
              <a:t> subset, mapping records to Case Classes. Establish the data scale and sampling strategy.</a:t>
            </a:r>
          </a:p>
          <a:p>
            <a:endParaRPr lang="en-US" sz="2000" dirty="0"/>
          </a:p>
          <a:p>
            <a:r>
              <a:rPr lang="en-US" sz="2000" dirty="0"/>
              <a:t>M2 (4/12 Lexicon-Based Baseline) ✅ Completed on schedule</a:t>
            </a:r>
          </a:p>
          <a:p>
            <a:r>
              <a:rPr lang="en-US" sz="2000" dirty="0"/>
              <a:t>Load a sentiment lexicon and build a rule-based sentiment scorer, delivering the first end-to-end runnable version. </a:t>
            </a:r>
          </a:p>
        </p:txBody>
      </p:sp>
    </p:spTree>
    <p:extLst>
      <p:ext uri="{BB962C8B-B14F-4D97-AF65-F5344CB8AC3E}">
        <p14:creationId xmlns:p14="http://schemas.microsoft.com/office/powerpoint/2010/main" val="242028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9F7D09B-76AB-2003-2212-F71E332610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2: Feature Evolution &amp; Model Depth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537F354-88FC-C48E-5DF0-9B8DE43F95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M3 (4/13 Feature Engineering Pipeline) ✅ Completed on schedule</a:t>
            </a:r>
          </a:p>
          <a:p>
            <a:r>
              <a:rPr lang="en-US" sz="2000" dirty="0"/>
              <a:t>Refactor processing logic into a Spark </a:t>
            </a:r>
            <a:r>
              <a:rPr lang="en-US" sz="2000" dirty="0" err="1"/>
              <a:t>MLlib</a:t>
            </a:r>
            <a:r>
              <a:rPr lang="en-US" sz="2000" dirty="0"/>
              <a:t> Pipeline, integrating Tokenizer, </a:t>
            </a:r>
            <a:r>
              <a:rPr lang="en-US" sz="2000" dirty="0" err="1"/>
              <a:t>stopword</a:t>
            </a:r>
            <a:r>
              <a:rPr lang="en-US" sz="2000" dirty="0"/>
              <a:t> filtering, and TF-IDF feature transformation using a functional data flow style.</a:t>
            </a:r>
          </a:p>
          <a:p>
            <a:r>
              <a:rPr lang="en-US" sz="2000" dirty="0"/>
              <a:t>M4 (4/14 Supervised Learning Comparison) ✅ Completed on schedule</a:t>
            </a:r>
          </a:p>
          <a:p>
            <a:r>
              <a:rPr lang="en-US" sz="2000" dirty="0"/>
              <a:t>Integrate multiple classifiers into the existing Pipeline under a unified experimental framework, quantifying performance gains over the lexicon baseline. Generate a model performance heatmap and accuracy comparison.</a:t>
            </a:r>
          </a:p>
        </p:txBody>
      </p:sp>
    </p:spTree>
    <p:extLst>
      <p:ext uri="{BB962C8B-B14F-4D97-AF65-F5344CB8AC3E}">
        <p14:creationId xmlns:p14="http://schemas.microsoft.com/office/powerpoint/2010/main" val="394317712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004D990-879F-5E77-7D00-105DB62A6A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Phase 3: Optimization &amp; Delivery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20350AA-9504-8DB5-BB51-B5FD683613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M5 (4/15 Generalization Validation) ✅ Completed on schedule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Extend the existing Pipeline to additional product category datasets, evaluating model stability across varying data distributions and quantifying cross-category performance differences.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M6 (4/16 Delivery &amp; Demo) Wrap the prediction logic into an API to simulate a production inference workflow. Finalize the course demo and organize project metrics into visual dashboards to validate performance goals.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Actual: Training speed was prioritized over production-level deployment considerations.</a:t>
            </a:r>
          </a:p>
          <a:p>
            <a:pPr>
              <a:spcBef>
                <a:spcPts val="0"/>
              </a:spcBef>
            </a:pP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346821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82A9139-A620-D89D-171E-A529E3537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Code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3B02BE9-25E2-CAC7-859B-88D51B0855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/>
              <a:t>Tech Stack</a:t>
            </a:r>
            <a:r>
              <a:rPr lang="en-US" sz="2400" dirty="0"/>
              <a:t>: 100% of core logic, Python for final report visualization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GitHub: https://github.com/xiuqizhiping123/amazon-review-spark</a:t>
            </a:r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dirty="0"/>
              <a:t>No changes</a:t>
            </a:r>
          </a:p>
        </p:txBody>
      </p:sp>
    </p:spTree>
    <p:extLst>
      <p:ext uri="{BB962C8B-B14F-4D97-AF65-F5344CB8AC3E}">
        <p14:creationId xmlns:p14="http://schemas.microsoft.com/office/powerpoint/2010/main" val="239943936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ABC284-22F8-FF06-E89B-56A5128C9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Acceptance </a:t>
            </a:r>
            <a:r>
              <a:rPr lang="en-US" altLang="zh-CN" sz="3200" dirty="0"/>
              <a:t>C</a:t>
            </a:r>
            <a:r>
              <a:rPr lang="en-US" sz="3200" dirty="0"/>
              <a:t>riteria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FC40B71-537A-3B55-8A5F-348CE8790A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>
              <a:spcBef>
                <a:spcPts val="0"/>
              </a:spcBef>
            </a:pPr>
            <a:r>
              <a:rPr lang="en-US" altLang="zh-CN" sz="2400" dirty="0"/>
              <a:t>Original:</a:t>
            </a: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dirty="0"/>
              <a:t>Achieves an AUC-ROC of at least 0.80 on </a:t>
            </a:r>
            <a:r>
              <a:rPr lang="en-US" sz="2400" dirty="0" err="1"/>
              <a:t>All_Beauty</a:t>
            </a:r>
            <a:r>
              <a:rPr lang="en-US" sz="2400" dirty="0"/>
              <a:t>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When applied without retraining to at least one additional product category. The weighted F1-score drops by no more than 0.05.</a:t>
            </a:r>
          </a:p>
          <a:p>
            <a:pPr>
              <a:spcBef>
                <a:spcPts val="0"/>
              </a:spcBef>
            </a:pPr>
            <a:endParaRPr lang="en-US" sz="2400" dirty="0"/>
          </a:p>
          <a:p>
            <a:pPr>
              <a:spcBef>
                <a:spcPts val="0"/>
              </a:spcBef>
            </a:pPr>
            <a:r>
              <a:rPr lang="en-US" sz="2400" dirty="0"/>
              <a:t>Update: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Given the class imbalance, AUC-ROC was replaced by weighted F1 as the primary evaluation metric.</a:t>
            </a:r>
          </a:p>
          <a:p>
            <a:pPr>
              <a:spcBef>
                <a:spcPts val="0"/>
              </a:spcBef>
            </a:pPr>
            <a:r>
              <a:rPr lang="en-US" dirty="0"/>
              <a:t>F1 Score: 0.858 on </a:t>
            </a:r>
            <a:r>
              <a:rPr lang="en-US" dirty="0" err="1"/>
              <a:t>All_Beauty</a:t>
            </a:r>
            <a:r>
              <a:rPr lang="en-US" dirty="0"/>
              <a:t>.</a:t>
            </a:r>
          </a:p>
          <a:p>
            <a:pPr marL="0" indent="0">
              <a:spcBef>
                <a:spcPts val="0"/>
              </a:spcBef>
              <a:buNone/>
            </a:pP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274568207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BCD50A0-4E22-A4B0-791E-01CCB327EA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Goals of the project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76BED25-0203-A57C-9C6A-8475836421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2400" dirty="0"/>
              <a:t>Master the core techniques for processing unstructured text data with Spark, including environment setup, data cleaning, and schema mapping.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Learn how Spark </a:t>
            </a:r>
            <a:r>
              <a:rPr lang="en-US" sz="2400" dirty="0" err="1"/>
              <a:t>MLlib</a:t>
            </a:r>
            <a:r>
              <a:rPr lang="en-US" sz="2400" dirty="0"/>
              <a:t> Pipelines work by building one — from raw JSONL to trained classifier — using functional Scala throughout.</a:t>
            </a:r>
          </a:p>
          <a:p>
            <a:pPr>
              <a:spcBef>
                <a:spcPts val="0"/>
              </a:spcBef>
            </a:pPr>
            <a:r>
              <a:rPr lang="en-US" sz="2400" dirty="0"/>
              <a:t>Build a sentiment pipeline that works on any Amazon product category.</a:t>
            </a:r>
          </a:p>
        </p:txBody>
      </p:sp>
    </p:spTree>
    <p:extLst>
      <p:ext uri="{BB962C8B-B14F-4D97-AF65-F5344CB8AC3E}">
        <p14:creationId xmlns:p14="http://schemas.microsoft.com/office/powerpoint/2010/main" val="413333844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22AB2AA-6AD4-C76D-43B0-5918604DAE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Results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0D81ED-BB65-48F4-35AC-58293B7BB6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altLang="zh-CN" sz="2000" dirty="0"/>
              <a:t>Two </a:t>
            </a:r>
            <a:r>
              <a:rPr lang="en-US" sz="2000" dirty="0"/>
              <a:t>Amazon product categories — </a:t>
            </a:r>
            <a:r>
              <a:rPr lang="en-US" sz="2000" dirty="0" err="1"/>
              <a:t>All_Beauty</a:t>
            </a:r>
            <a:r>
              <a:rPr lang="en-US" sz="2000" dirty="0"/>
              <a:t> (beauty and personal care products,</a:t>
            </a:r>
            <a:r>
              <a:rPr lang="zh-CN" altLang="en-US" sz="2000" dirty="0"/>
              <a:t> </a:t>
            </a:r>
            <a:r>
              <a:rPr lang="en-US" sz="2000" dirty="0"/>
              <a:t>701,421 reviews) and </a:t>
            </a:r>
            <a:r>
              <a:rPr lang="en-US" sz="2000" dirty="0" err="1"/>
              <a:t>Gift_Cards</a:t>
            </a:r>
            <a:r>
              <a:rPr lang="en-US" sz="2000" dirty="0"/>
              <a:t> (152,404 reviews) 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Four-experiment framework: LR [</a:t>
            </a:r>
            <a:r>
              <a:rPr lang="en-US" sz="2000" dirty="0" err="1"/>
              <a:t>LexiconOnly</a:t>
            </a:r>
            <a:r>
              <a:rPr lang="en-US" sz="2000" dirty="0"/>
              <a:t>], LR [</a:t>
            </a:r>
            <a:r>
              <a:rPr lang="en-US" sz="2000" dirty="0" err="1"/>
              <a:t>TfidfOnly</a:t>
            </a:r>
            <a:r>
              <a:rPr lang="en-US" sz="2000" dirty="0"/>
              <a:t>], LR [Hybrid], and </a:t>
            </a:r>
            <a:r>
              <a:rPr lang="en-US" sz="2000" dirty="0" err="1"/>
              <a:t>NaiveBayes</a:t>
            </a:r>
            <a:r>
              <a:rPr lang="en-US" sz="2000" dirty="0"/>
              <a:t> [</a:t>
            </a:r>
            <a:r>
              <a:rPr lang="en-US" sz="2000" dirty="0" err="1"/>
              <a:t>TfidfOnly</a:t>
            </a:r>
            <a:r>
              <a:rPr lang="en-US" sz="2000" dirty="0"/>
              <a:t>].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The Hybrid model combines two types of features: lexicon-derived scores from AFINN, and TF-IDF weights learned from the text corpus</a:t>
            </a:r>
          </a:p>
        </p:txBody>
      </p:sp>
    </p:spTree>
    <p:extLst>
      <p:ext uri="{BB962C8B-B14F-4D97-AF65-F5344CB8AC3E}">
        <p14:creationId xmlns:p14="http://schemas.microsoft.com/office/powerpoint/2010/main" val="23735791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B01F8CB-BDF3-390C-BBAD-40D7E8CA66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Results</a:t>
            </a:r>
          </a:p>
        </p:txBody>
      </p:sp>
      <p:pic>
        <p:nvPicPr>
          <p:cNvPr id="5" name="内容占位符 4">
            <a:extLst>
              <a:ext uri="{FF2B5EF4-FFF2-40B4-BE49-F238E27FC236}">
                <a16:creationId xmlns:a16="http://schemas.microsoft.com/office/drawing/2014/main" id="{F0F8AC8A-5889-4FDB-8390-B077354EA06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176866" y="2340582"/>
            <a:ext cx="6799262" cy="2512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440331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044B20-CBC6-35C3-A076-C3B7053887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Results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1DCCB7-4232-FCFE-79BF-0C83903F43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/>
              <a:t>On </a:t>
            </a:r>
            <a:r>
              <a:rPr lang="en-US" sz="2000" dirty="0" err="1"/>
              <a:t>All_Beauty</a:t>
            </a:r>
            <a:r>
              <a:rPr lang="en-US" sz="2000" dirty="0"/>
              <a:t>, LR [Hybrid] achieved the highest weighted F1 of 0.8580, marginally outperforming LR [</a:t>
            </a:r>
            <a:r>
              <a:rPr lang="en-US" sz="2000" dirty="0" err="1"/>
              <a:t>TfidfOnly</a:t>
            </a:r>
            <a:r>
              <a:rPr lang="en-US" sz="2000" dirty="0"/>
              <a:t>] at 0.8571. LR [</a:t>
            </a:r>
            <a:r>
              <a:rPr lang="en-US" sz="2000" dirty="0" err="1"/>
              <a:t>LexiconOnly</a:t>
            </a:r>
            <a:r>
              <a:rPr lang="en-US" sz="2000" dirty="0"/>
              <a:t>] served as the lexicon baseline at F1 0.7442.</a:t>
            </a:r>
          </a:p>
          <a:p>
            <a:r>
              <a:rPr lang="en-US" sz="2000" dirty="0"/>
              <a:t>Moving from the rule-based lexicon baseline to TF-IDF with Logistic Regression improved F1 by over 0.11, which confirms that learning feature weights from labeled data is significantly more effective than applying a fixed sentiment dictionary.</a:t>
            </a:r>
          </a:p>
          <a:p>
            <a:r>
              <a:rPr lang="en-US" sz="2000" dirty="0"/>
              <a:t>On </a:t>
            </a:r>
            <a:r>
              <a:rPr lang="en-US" sz="2000" dirty="0" err="1"/>
              <a:t>Gift_Cards</a:t>
            </a:r>
            <a:r>
              <a:rPr lang="en-US" sz="2000" dirty="0"/>
              <a:t>, the same ranking held. The cross-category F1 drop from </a:t>
            </a:r>
            <a:r>
              <a:rPr lang="en-US" sz="2000" dirty="0" err="1"/>
              <a:t>Gift_Cards</a:t>
            </a:r>
            <a:r>
              <a:rPr lang="en-US" sz="2000" dirty="0"/>
              <a:t> to </a:t>
            </a:r>
            <a:r>
              <a:rPr lang="en-US" sz="2000" dirty="0" err="1"/>
              <a:t>All_Beauty</a:t>
            </a:r>
            <a:r>
              <a:rPr lang="en-US" sz="2000" dirty="0"/>
              <a:t> was 0.068 for LR [Hybrid], marginally exceeding the original acceptance criterion of 0.05. All other trends generalized consistently across categories.</a:t>
            </a:r>
          </a:p>
        </p:txBody>
      </p:sp>
    </p:spTree>
    <p:extLst>
      <p:ext uri="{BB962C8B-B14F-4D97-AF65-F5344CB8AC3E}">
        <p14:creationId xmlns:p14="http://schemas.microsoft.com/office/powerpoint/2010/main" val="14309846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FFEFAD7-9728-D50E-A53E-7A5E04756F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Results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95E8BBF-CFA0-5958-D3D5-E5F49EA46A0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pPr>
              <a:spcBef>
                <a:spcPts val="0"/>
              </a:spcBef>
            </a:pPr>
            <a:r>
              <a:rPr lang="en-US" dirty="0"/>
              <a:t>Experimental results show no significant overfitting:</a:t>
            </a:r>
          </a:p>
          <a:p>
            <a:pPr>
              <a:spcBef>
                <a:spcPts val="0"/>
              </a:spcBef>
            </a:pPr>
            <a:r>
              <a:rPr lang="en-US" dirty="0"/>
              <a:t>Regularization: Both TF-IDF models preferred L2 regularization over L1, suggesting that retaining the collective contribution of all features yields better generalization than aggressive </a:t>
            </a:r>
            <a:r>
              <a:rPr lang="en-US" dirty="0" err="1"/>
              <a:t>sparsification</a:t>
            </a:r>
            <a:r>
              <a:rPr lang="en-US" dirty="0"/>
              <a:t>.</a:t>
            </a:r>
          </a:p>
          <a:p>
            <a:pPr>
              <a:spcBef>
                <a:spcPts val="0"/>
              </a:spcBef>
            </a:pPr>
            <a:r>
              <a:rPr lang="en-US" dirty="0"/>
              <a:t>Feature Utilization: The absence of zero-out weights indicates the model is fully leveraging the data rather than collapsing onto a few dominant features.</a:t>
            </a:r>
          </a:p>
          <a:p>
            <a:pPr>
              <a:spcBef>
                <a:spcPts val="0"/>
              </a:spcBef>
            </a:pPr>
            <a:r>
              <a:rPr lang="en-US" dirty="0"/>
              <a:t>Generalization: Robust F1 scores (0.858 for </a:t>
            </a:r>
            <a:r>
              <a:rPr lang="en-US" dirty="0" err="1"/>
              <a:t>All_Beauty</a:t>
            </a:r>
            <a:r>
              <a:rPr lang="en-US" dirty="0"/>
              <a:t> and 0.926 for </a:t>
            </a:r>
            <a:r>
              <a:rPr lang="en-US" dirty="0" err="1"/>
              <a:t>Gift_Cards</a:t>
            </a:r>
            <a:r>
              <a:rPr lang="en-US" dirty="0"/>
              <a:t>) across different domains confirm stable performance, whereas overfitted models would typically show a sharp decline on unseen data.</a:t>
            </a:r>
          </a:p>
        </p:txBody>
      </p:sp>
    </p:spTree>
    <p:extLst>
      <p:ext uri="{BB962C8B-B14F-4D97-AF65-F5344CB8AC3E}">
        <p14:creationId xmlns:p14="http://schemas.microsoft.com/office/powerpoint/2010/main" val="253027949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7DB690F-0079-9B46-7C36-CB14F22780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Insights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B8B5D1C-B023-E20B-0D10-05D91E1FCB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The two datasets differ substantially in class distribution. </a:t>
            </a:r>
            <a:r>
              <a:rPr lang="en-US" sz="2000" dirty="0" err="1"/>
              <a:t>All_Beauty</a:t>
            </a:r>
            <a:r>
              <a:rPr lang="en-US" sz="2000" dirty="0"/>
              <a:t> has a positive-to-negative ratio of approximately 3:1, while </a:t>
            </a:r>
            <a:r>
              <a:rPr lang="en-US" sz="2000" dirty="0" err="1"/>
              <a:t>Gift_Cards</a:t>
            </a:r>
            <a:r>
              <a:rPr lang="en-US" sz="2000" dirty="0"/>
              <a:t> exhibits a ratio of approximately 11.6:1, with 5-star reviews comprising over 83% of all records. This imbalance directly inflates aggregate metrics on </a:t>
            </a:r>
            <a:r>
              <a:rPr lang="en-US" sz="2000" dirty="0" err="1"/>
              <a:t>Gift_Cards</a:t>
            </a:r>
            <a:r>
              <a:rPr lang="en-US" sz="2000" dirty="0"/>
              <a:t>: a model that predicts the majority class exclusively would achieve over 83% accuracy without learning any discriminative signal. </a:t>
            </a:r>
          </a:p>
        </p:txBody>
      </p:sp>
    </p:spTree>
    <p:extLst>
      <p:ext uri="{BB962C8B-B14F-4D97-AF65-F5344CB8AC3E}">
        <p14:creationId xmlns:p14="http://schemas.microsoft.com/office/powerpoint/2010/main" val="114198188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A8C46F-3F3F-4D72-5DDD-9F7801833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Data Insights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8190B58-90A2-BE8C-6C7D-6079C958D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Class-weighted sampling was applied during training to partially counteract this imbalance, assigning inverse-frequency weights to each label.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The resulting negative-class recall on </a:t>
            </a:r>
            <a:r>
              <a:rPr lang="en-US" sz="2000" dirty="0" err="1"/>
              <a:t>All_Beauty</a:t>
            </a:r>
            <a:r>
              <a:rPr lang="en-US" sz="2000" dirty="0"/>
              <a:t> reached 69.5% for LR [</a:t>
            </a:r>
            <a:r>
              <a:rPr lang="en-US" sz="2000" dirty="0" err="1"/>
              <a:t>TfidfOnly</a:t>
            </a:r>
            <a:r>
              <a:rPr lang="en-US" sz="2000" dirty="0"/>
              <a:t>] and 70.1% for LR [Hybrid], indicating that the weighting mechanism was effective in preventing the model from collapsing to majority-class prediction.</a:t>
            </a:r>
          </a:p>
        </p:txBody>
      </p:sp>
    </p:spTree>
    <p:extLst>
      <p:ext uri="{BB962C8B-B14F-4D97-AF65-F5344CB8AC3E}">
        <p14:creationId xmlns:p14="http://schemas.microsoft.com/office/powerpoint/2010/main" val="383359494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8ACCF9-CC5F-BBD8-E381-844C87593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Feature Analysis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701474-C689-97C1-EEB3-995895F11B7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The lexicon baseline was extended from a single sentiment score to a four-dimensional feature vector, incorporating word count, positive word count, and negative word count alongside the raw sentiment score.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The </a:t>
            </a:r>
            <a:r>
              <a:rPr lang="en-US" sz="2000" dirty="0" err="1"/>
              <a:t>LexiconOnly</a:t>
            </a:r>
            <a:r>
              <a:rPr lang="en-US" sz="2000" dirty="0"/>
              <a:t> coefficient vector reveals that raw sentiment score carries the dominant signal (0.589 on </a:t>
            </a:r>
            <a:r>
              <a:rPr lang="en-US" sz="2000" dirty="0" err="1"/>
              <a:t>All_Beauty</a:t>
            </a:r>
            <a:r>
              <a:rPr lang="en-US" sz="2000" dirty="0"/>
              <a:t>), while word count contributes near zero (-0.036), indicating that review length is not a reliable indicator of sentiment polarity. Negative word count carries a moderate negative coefficient (-0.212), suggesting that the presence of negative lexicon terms is a stronger signal than their absence of positive ones.</a:t>
            </a:r>
          </a:p>
        </p:txBody>
      </p:sp>
    </p:spTree>
    <p:extLst>
      <p:ext uri="{BB962C8B-B14F-4D97-AF65-F5344CB8AC3E}">
        <p14:creationId xmlns:p14="http://schemas.microsoft.com/office/powerpoint/2010/main" val="131281922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B1FED9-1117-3FAC-5705-B6A091792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Feature Analysis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003E34A-D191-5640-96FA-1D025BF5BD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When calculating TF-IDF, each review is represented as a 10,000-dimensional sparse vector, where each dimension corresponds to a hash bucket. </a:t>
            </a:r>
            <a:r>
              <a:rPr lang="en-US" sz="2000" dirty="0" err="1"/>
              <a:t>HashingTF</a:t>
            </a:r>
            <a:r>
              <a:rPr lang="en-US" sz="2000" dirty="0"/>
              <a:t> maps tokens to buckets via a hash function, and IDF down-weights terms that appear across many reviews. The result is a feature vector that emphasizes words with high discriminative power.</a:t>
            </a:r>
          </a:p>
        </p:txBody>
      </p:sp>
    </p:spTree>
    <p:extLst>
      <p:ext uri="{BB962C8B-B14F-4D97-AF65-F5344CB8AC3E}">
        <p14:creationId xmlns:p14="http://schemas.microsoft.com/office/powerpoint/2010/main" val="156344513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9B52B02-AA7A-5A51-1076-B8E2544743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200" dirty="0"/>
              <a:t>Feature Analysis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0DEC345-BE04-1C04-718D-2D5FC7BC78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>
              <a:spcBef>
                <a:spcPts val="0"/>
              </a:spcBef>
            </a:pPr>
            <a:r>
              <a:rPr lang="en-US" sz="2000" dirty="0"/>
              <a:t>Dataset scale directly affects TF-IDF feature stability.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On the small </a:t>
            </a:r>
            <a:r>
              <a:rPr lang="en-US" sz="2000" dirty="0" err="1"/>
              <a:t>All_Beauty</a:t>
            </a:r>
            <a:r>
              <a:rPr lang="en-US" sz="2000" dirty="0"/>
              <a:t> subset (2,000 reviews), LR [</a:t>
            </a:r>
            <a:r>
              <a:rPr lang="en-US" sz="2000" dirty="0" err="1"/>
              <a:t>TfidfOnly</a:t>
            </a:r>
            <a:r>
              <a:rPr lang="en-US" sz="2000" dirty="0"/>
              <a:t>] retained only 494 non-zero coefficients out of 10,000 under L1 regularization. On the full dataset (701,421 reviews), all 10,000 features </a:t>
            </a:r>
            <a:r>
              <a:rPr lang="en-US" sz="2000"/>
              <a:t>(</a:t>
            </a:r>
            <a:r>
              <a:rPr lang="en-US" altLang="zh-CN" sz="2000"/>
              <a:t>mapped </a:t>
            </a:r>
            <a:r>
              <a:rPr lang="en-US" altLang="zh-CN" sz="2000" dirty="0"/>
              <a:t>from </a:t>
            </a:r>
            <a:r>
              <a:rPr lang="en-US" sz="2000" dirty="0"/>
              <a:t>10,000 hash </a:t>
            </a:r>
            <a:r>
              <a:rPr lang="en-US" altLang="zh-CN" sz="2000" dirty="0"/>
              <a:t>buckets</a:t>
            </a:r>
            <a:r>
              <a:rPr lang="en-US" sz="2000" dirty="0"/>
              <a:t>) remained non-zero under L2 regularization (</a:t>
            </a:r>
            <a:r>
              <a:rPr lang="en-US" sz="2000" dirty="0" err="1"/>
              <a:t>elasticNetParam</a:t>
            </a:r>
            <a:r>
              <a:rPr lang="en-US" sz="2000" dirty="0"/>
              <a:t>=0.0), indicating that sufficient data volume stabilizes sparse feature estimates to the point where regularization no longer needs to suppress them.</a:t>
            </a:r>
          </a:p>
          <a:p>
            <a:pPr>
              <a:spcBef>
                <a:spcPts val="0"/>
              </a:spcBef>
            </a:pPr>
            <a:r>
              <a:rPr lang="en-US" sz="2000" dirty="0"/>
              <a:t>This transition also explains why the Hybrid advantage diminishes at scale: TF-IDF alone becomes expressive enough to subsume the signal provided by lexicon features.</a:t>
            </a:r>
          </a:p>
        </p:txBody>
      </p:sp>
    </p:spTree>
    <p:extLst>
      <p:ext uri="{BB962C8B-B14F-4D97-AF65-F5344CB8AC3E}">
        <p14:creationId xmlns:p14="http://schemas.microsoft.com/office/powerpoint/2010/main" val="274283712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环保">
  <a:themeElements>
    <a:clrScheme name="环保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环保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环保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645</TotalTime>
  <Words>1409</Words>
  <Application>Microsoft Office PowerPoint</Application>
  <PresentationFormat>全屏显示(4:3)</PresentationFormat>
  <Paragraphs>84</Paragraphs>
  <Slides>20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4" baseType="lpstr">
      <vt:lpstr>Aptos</vt:lpstr>
      <vt:lpstr>Arial</vt:lpstr>
      <vt:lpstr>Garamond</vt:lpstr>
      <vt:lpstr>环保</vt:lpstr>
      <vt:lpstr>Sentiment Analysis on Amazon Reviews</vt:lpstr>
      <vt:lpstr>Use Cases</vt:lpstr>
      <vt:lpstr>Methodology </vt:lpstr>
      <vt:lpstr>Methodology </vt:lpstr>
      <vt:lpstr>Data Sources</vt:lpstr>
      <vt:lpstr>Phase 1: Setup &amp; Baseline</vt:lpstr>
      <vt:lpstr>Phase 2: Feature Evolution &amp; Model Depth</vt:lpstr>
      <vt:lpstr>Phase 3: Optimization &amp; Delivery</vt:lpstr>
      <vt:lpstr>Code</vt:lpstr>
      <vt:lpstr>Acceptance Criteria</vt:lpstr>
      <vt:lpstr>Goals of the project</vt:lpstr>
      <vt:lpstr>Results</vt:lpstr>
      <vt:lpstr>Results</vt:lpstr>
      <vt:lpstr>Results</vt:lpstr>
      <vt:lpstr>Results</vt:lpstr>
      <vt:lpstr>Data Insights</vt:lpstr>
      <vt:lpstr>Data Insights</vt:lpstr>
      <vt:lpstr>Feature Analysis</vt:lpstr>
      <vt:lpstr>Feature Analysis</vt:lpstr>
      <vt:lpstr>Feature Analysis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Yuntian Xiao</cp:lastModifiedBy>
  <cp:revision>94</cp:revision>
  <dcterms:created xsi:type="dcterms:W3CDTF">2013-01-27T09:14:16Z</dcterms:created>
  <dcterms:modified xsi:type="dcterms:W3CDTF">2026-04-19T01:56:54Z</dcterms:modified>
  <cp:category/>
</cp:coreProperties>
</file>